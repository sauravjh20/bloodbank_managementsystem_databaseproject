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7" r:id="rId9"/>
    <p:sldId id="262" r:id="rId10"/>
    <p:sldId id="263" r:id="rId11"/>
    <p:sldId id="264" r:id="rId12"/>
    <p:sldId id="269" r:id="rId13"/>
    <p:sldId id="270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8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1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76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0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7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8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6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6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4244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40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298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16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03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7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0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geeksforgeeks.org/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C0E28F-6FA3-970B-5E58-16E5C762E71A}"/>
              </a:ext>
            </a:extLst>
          </p:cNvPr>
          <p:cNvSpPr txBox="1"/>
          <p:nvPr/>
        </p:nvSpPr>
        <p:spPr>
          <a:xfrm>
            <a:off x="1304817" y="2549932"/>
            <a:ext cx="783918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Bank Management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41DB7-EE76-16C0-6F78-E120A3689255}"/>
              </a:ext>
            </a:extLst>
          </p:cNvPr>
          <p:cNvSpPr txBox="1"/>
          <p:nvPr/>
        </p:nvSpPr>
        <p:spPr>
          <a:xfrm>
            <a:off x="2214081" y="506933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		     By: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Kumar Saurav Jha          Uday Kiran Jadi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A10A9-B449-FA1B-2EE5-D91D2B12C4C2}"/>
              </a:ext>
            </a:extLst>
          </p:cNvPr>
          <p:cNvSpPr txBox="1"/>
          <p:nvPr/>
        </p:nvSpPr>
        <p:spPr>
          <a:xfrm>
            <a:off x="1955515" y="3738752"/>
            <a:ext cx="59658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COMP 520 - Advanced Database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90AFF-61FA-8098-338E-AAACE246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856" y="638046"/>
            <a:ext cx="2495931" cy="2096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4D68-99D0-7148-23E5-3C2B4C284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912" y="306333"/>
            <a:ext cx="6589199" cy="128089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2552E-3879-AE9D-91FC-F98A3B4CB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157" y="1722633"/>
            <a:ext cx="7787811" cy="4328845"/>
          </a:xfrm>
        </p:spPr>
        <p:txBody>
          <a:bodyPr>
            <a:norm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endParaRPr lang="en-US" sz="2200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2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A software solution designed to efficiently manage and 	streamline the operations of a blood bank.</a:t>
            </a:r>
          </a:p>
          <a:p>
            <a:pPr marL="0" indent="0"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None/>
            </a:pPr>
            <a:endParaRPr lang="en-US" sz="22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None/>
            </a:pPr>
            <a:endParaRPr lang="en-US" sz="22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2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Features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Donor/recipient registration &amp; tracking.</a:t>
            </a:r>
          </a:p>
          <a:p>
            <a:pPr lvl="1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blood stock monitoring by blood type.</a:t>
            </a:r>
          </a:p>
          <a:p>
            <a:pPr lvl="1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History for blood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onation and receiving(transfusions).</a:t>
            </a:r>
          </a:p>
          <a:p>
            <a:pPr marL="457200" lvl="1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37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720" y="264515"/>
            <a:ext cx="6589199" cy="1280890"/>
          </a:xfrm>
        </p:spPr>
        <p:txBody>
          <a:bodyPr/>
          <a:lstStyle/>
          <a:p>
            <a:r>
              <a:rPr lang="en-US" dirty="0"/>
              <a:t> Technology Stack</a:t>
            </a:r>
            <a:endParaRPr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96BF7A3-DC33-ED87-6525-538AF48A5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975464"/>
              </p:ext>
            </p:extLst>
          </p:nvPr>
        </p:nvGraphicFramePr>
        <p:xfrm>
          <a:off x="400692" y="986320"/>
          <a:ext cx="7459038" cy="5871684"/>
        </p:xfrm>
        <a:graphic>
          <a:graphicData uri="http://schemas.openxmlformats.org/drawingml/2006/table">
            <a:tbl>
              <a:tblPr/>
              <a:tblGrid>
                <a:gridCol w="4616234">
                  <a:extLst>
                    <a:ext uri="{9D8B030D-6E8A-4147-A177-3AD203B41FA5}">
                      <a16:colId xmlns:a16="http://schemas.microsoft.com/office/drawing/2014/main" val="769929600"/>
                    </a:ext>
                  </a:extLst>
                </a:gridCol>
                <a:gridCol w="2842804">
                  <a:extLst>
                    <a:ext uri="{9D8B030D-6E8A-4147-A177-3AD203B41FA5}">
                      <a16:colId xmlns:a16="http://schemas.microsoft.com/office/drawing/2014/main" val="4279055295"/>
                    </a:ext>
                  </a:extLst>
                </a:gridCol>
              </a:tblGrid>
              <a:tr h="878529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Technologies/Tools Used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492173"/>
                  </a:ext>
                </a:extLst>
              </a:tr>
              <a:tr h="87852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 and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186939"/>
                  </a:ext>
                </a:extLst>
              </a:tr>
              <a:tr h="87852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Database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724732"/>
                  </a:ext>
                </a:extLst>
              </a:tr>
              <a:tr h="87852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(via XAMPP Server)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074626"/>
                  </a:ext>
                </a:extLst>
              </a:tr>
              <a:tr h="14790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Development Tools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Studio Code,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Dbeaver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phpMyAdmin, MySQL Workbench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978504"/>
                  </a:ext>
                </a:extLst>
              </a:tr>
              <a:tr h="87852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Browser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Chrome.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96183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F00A9A0-209B-B2A3-6112-E7FF597C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425" y="1818526"/>
            <a:ext cx="1041394" cy="792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FE772F-0232-8969-0C01-0987532BA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877" y="2680927"/>
            <a:ext cx="982880" cy="9588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DF870-F37A-7F77-4F7A-870A7C8FF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024" y="3707552"/>
            <a:ext cx="876359" cy="885123"/>
          </a:xfrm>
          <a:prstGeom prst="rect">
            <a:avLst/>
          </a:prstGeom>
        </p:spPr>
      </p:pic>
      <p:pic>
        <p:nvPicPr>
          <p:cNvPr id="1026" name="Picture 2" descr="Visual Studio Code - Wikiversity">
            <a:extLst>
              <a:ext uri="{FF2B5EF4-FFF2-40B4-BE49-F238E27FC236}">
                <a16:creationId xmlns:a16="http://schemas.microsoft.com/office/drawing/2014/main" id="{C66F98B6-BAA3-0CC1-4A14-3C56F3D58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293" y="4824090"/>
            <a:ext cx="845050" cy="84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Beaver Ultimate 10 users 1 year License Subscription | E-SPIN Group">
            <a:extLst>
              <a:ext uri="{FF2B5EF4-FFF2-40B4-BE49-F238E27FC236}">
                <a16:creationId xmlns:a16="http://schemas.microsoft.com/office/drawing/2014/main" id="{2D73BCE6-AEFB-A14A-6B29-811413D01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425" y="5777025"/>
            <a:ext cx="1125233" cy="101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575" y="154111"/>
            <a:ext cx="4438437" cy="1021655"/>
          </a:xfrm>
        </p:spPr>
        <p:txBody>
          <a:bodyPr/>
          <a:lstStyle/>
          <a:p>
            <a:r>
              <a:rPr dirty="0"/>
              <a:t>System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964B0-9053-A0E5-B1C1-FAD27AD72AC4}"/>
              </a:ext>
            </a:extLst>
          </p:cNvPr>
          <p:cNvSpPr txBox="1"/>
          <p:nvPr/>
        </p:nvSpPr>
        <p:spPr>
          <a:xfrm>
            <a:off x="452063" y="1242136"/>
            <a:ext cx="537338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Person Page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Registers new donors or blood receivers.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Search Person Page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Fetch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details of a registered person.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Donation Page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Records blood donations.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 Page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Records blood transfusions.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Stock Page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Displays available blood stock by blood	group.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Donation History Page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Shows donation records within a 	specified        </a:t>
            </a: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time period.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 History Page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Shows blood transfusion records within a	         	time frame.</a:t>
            </a:r>
            <a:endParaRPr lang="en-US" sz="20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72712E-E6D4-09EE-478F-007507C97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504" y="535322"/>
            <a:ext cx="3350029" cy="35229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A35D4C-7E95-5429-60AF-0EE7ABBC4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504" y="4263774"/>
            <a:ext cx="3442495" cy="25442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5784" y="154111"/>
            <a:ext cx="6818616" cy="811659"/>
          </a:xfrm>
        </p:spPr>
        <p:txBody>
          <a:bodyPr/>
          <a:lstStyle/>
          <a:p>
            <a:r>
              <a:rPr dirty="0"/>
              <a:t>Database Design</a:t>
            </a:r>
            <a:r>
              <a:rPr lang="en-US" dirty="0"/>
              <a:t>(DDL)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9F702-4A77-D493-CCAE-A7C2B5B1AC3F}"/>
              </a:ext>
            </a:extLst>
          </p:cNvPr>
          <p:cNvSpPr txBox="1"/>
          <p:nvPr/>
        </p:nvSpPr>
        <p:spPr>
          <a:xfrm>
            <a:off x="1263721" y="873303"/>
            <a:ext cx="7880279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person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person_id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PK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person_name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person_phone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    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person_dob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person_address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person_gender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person_blood_group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 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person_med_issues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143"/>
              </a:lnSpc>
              <a:spcAft>
                <a:spcPts val="300"/>
              </a:spcAft>
            </a:pP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donation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person_id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FK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→person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donation_date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donation_time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	  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donation_quantity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[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Composite PK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person_id+donation_date+donation_time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receive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person_id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FK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→person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received_date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received_time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	  	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received_quantity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	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received_hospital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[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Composite PK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person_id+received_date+received_time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stock table</a:t>
            </a:r>
          </a:p>
          <a:p>
            <a:pPr algn="l">
              <a:lnSpc>
                <a:spcPts val="2143"/>
              </a:lnSpc>
              <a:spcAft>
                <a:spcPts val="3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stock_blood_group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PK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stock_quantity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143"/>
              </a:lnSpc>
              <a:spcAft>
                <a:spcPts val="300"/>
              </a:spcAft>
            </a:pP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143"/>
              </a:lnSpc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user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b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username(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PK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  password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104" y="166820"/>
            <a:ext cx="5725796" cy="485499"/>
          </a:xfrm>
        </p:spPr>
        <p:txBody>
          <a:bodyPr>
            <a:normAutofit fontScale="90000"/>
          </a:bodyPr>
          <a:lstStyle/>
          <a:p>
            <a:r>
              <a:rPr lang="en-US" dirty="0"/>
              <a:t>Entity Relationship Diagram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1C12C-B6D0-EF35-F744-03A595085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82" y="1027416"/>
            <a:ext cx="8414535" cy="57586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896" y="151499"/>
            <a:ext cx="6664503" cy="732079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4C3DA7-C454-6BFC-F283-C7B3FC06F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398427"/>
              </p:ext>
            </p:extLst>
          </p:nvPr>
        </p:nvGraphicFramePr>
        <p:xfrm>
          <a:off x="143838" y="883578"/>
          <a:ext cx="8883720" cy="5537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930">
                  <a:extLst>
                    <a:ext uri="{9D8B030D-6E8A-4147-A177-3AD203B41FA5}">
                      <a16:colId xmlns:a16="http://schemas.microsoft.com/office/drawing/2014/main" val="4229528773"/>
                    </a:ext>
                  </a:extLst>
                </a:gridCol>
                <a:gridCol w="2220930">
                  <a:extLst>
                    <a:ext uri="{9D8B030D-6E8A-4147-A177-3AD203B41FA5}">
                      <a16:colId xmlns:a16="http://schemas.microsoft.com/office/drawing/2014/main" val="984183332"/>
                    </a:ext>
                  </a:extLst>
                </a:gridCol>
                <a:gridCol w="2220930">
                  <a:extLst>
                    <a:ext uri="{9D8B030D-6E8A-4147-A177-3AD203B41FA5}">
                      <a16:colId xmlns:a16="http://schemas.microsoft.com/office/drawing/2014/main" val="3665563913"/>
                    </a:ext>
                  </a:extLst>
                </a:gridCol>
                <a:gridCol w="2220930">
                  <a:extLst>
                    <a:ext uri="{9D8B030D-6E8A-4147-A177-3AD203B41FA5}">
                      <a16:colId xmlns:a16="http://schemas.microsoft.com/office/drawing/2014/main" val="1604233559"/>
                    </a:ext>
                  </a:extLst>
                </a:gridCol>
              </a:tblGrid>
              <a:tr h="410023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Name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Fields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1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Filter/Logic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766141804"/>
                  </a:ext>
                </a:extLst>
              </a:tr>
              <a:tr h="970561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active_donors</a:t>
                      </a:r>
                      <a:endParaRPr lang="en-US" sz="17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Lists all blood donors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person_id, name, blood_group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Joined person and donation tables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040032859"/>
                  </a:ext>
                </a:extLst>
              </a:tr>
              <a:tr h="1108033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blood_stock</a:t>
                      </a:r>
                      <a:endParaRPr lang="en-US" sz="17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current inventory levels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blood_group, quantity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Sorted by stock quantity (DESC)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52036672"/>
                  </a:ext>
                </a:extLst>
              </a:tr>
              <a:tr h="1108033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recent_donations</a:t>
                      </a:r>
                      <a:endParaRPr lang="en-US" sz="17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 30 days' donations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person_id, name, date, units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donation_date ≥ CURDATE() - 30 days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499629965"/>
                  </a:ext>
                </a:extLst>
              </a:tr>
              <a:tr h="970561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blood_receivers</a:t>
                      </a:r>
                      <a:endParaRPr lang="en-US" sz="17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Lists all blood recipients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person_id, name, blood_group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Joined person and receive tables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588928935"/>
                  </a:ext>
                </a:extLst>
              </a:tr>
              <a:tr h="970561">
                <a:tc>
                  <a:txBody>
                    <a:bodyPr/>
                    <a:lstStyle/>
                    <a:p>
                      <a:r>
                        <a:rPr lang="en-US" sz="17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donor_blood_groups</a:t>
                      </a:r>
                      <a:endParaRPr lang="en-US" sz="17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Donor count by blood type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blood_group, donor_count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7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Grouped by </a:t>
                      </a:r>
                      <a:r>
                        <a:rPr lang="en-US" sz="17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person_blood_group</a:t>
                      </a:r>
                      <a:endParaRPr lang="en-US" sz="17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6564681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5B03-2D02-DA29-12B5-91121E2D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057" y="148885"/>
            <a:ext cx="6589199" cy="475225"/>
          </a:xfrm>
        </p:spPr>
        <p:txBody>
          <a:bodyPr>
            <a:normAutofit fontScale="90000"/>
          </a:bodyPr>
          <a:lstStyle/>
          <a:p>
            <a:r>
              <a:rPr lang="en-US" dirty="0"/>
              <a:t>Stored Procedures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9F1D209-4B95-E2D6-9BAB-E130DB1E4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7B40B7-658A-8128-82F3-BFC5C8E5C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777203"/>
              </p:ext>
            </p:extLst>
          </p:nvPr>
        </p:nvGraphicFramePr>
        <p:xfrm>
          <a:off x="267128" y="884034"/>
          <a:ext cx="8763855" cy="5825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285">
                  <a:extLst>
                    <a:ext uri="{9D8B030D-6E8A-4147-A177-3AD203B41FA5}">
                      <a16:colId xmlns:a16="http://schemas.microsoft.com/office/drawing/2014/main" val="3433266486"/>
                    </a:ext>
                  </a:extLst>
                </a:gridCol>
                <a:gridCol w="2921285">
                  <a:extLst>
                    <a:ext uri="{9D8B030D-6E8A-4147-A177-3AD203B41FA5}">
                      <a16:colId xmlns:a16="http://schemas.microsoft.com/office/drawing/2014/main" val="1360763462"/>
                    </a:ext>
                  </a:extLst>
                </a:gridCol>
                <a:gridCol w="2921285">
                  <a:extLst>
                    <a:ext uri="{9D8B030D-6E8A-4147-A177-3AD203B41FA5}">
                      <a16:colId xmlns:a16="http://schemas.microsoft.com/office/drawing/2014/main" val="2020384474"/>
                    </a:ext>
                  </a:extLst>
                </a:gridCol>
              </a:tblGrid>
              <a:tr h="424401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Procedure</a:t>
                      </a: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Parameters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3844303643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AddPerson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Registers a new donor/recipient with personal details and blood type.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Name, phone, DOB, gender, blood group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152230413"/>
                  </a:ext>
                </a:extLst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RecordDonation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Logs a blood donation event with timestamp and quantity.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 ID, quantity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78307400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RecordReceival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Records a blood transfusion with hospital details and quantity.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 ID, quantity, hospital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3314268439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UpdateStock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Adjusts inventory levels for a specific blood type.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Blood group, quantity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3398871228"/>
                  </a:ext>
                </a:extLst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GetPerson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Retrieves complete profile data for a specified person.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 ID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1617491392"/>
                  </a:ext>
                </a:extLst>
              </a:tr>
              <a:tr h="424401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CountDonations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Calculates total donations made by a donor.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 ID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1189393270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GetStock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Displays current blood inventory levels sorted by quantity.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1513255277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GetMonthlyDonations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Aggregates donation statistics by month for a given year.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(optional)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1584159223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GetRecentDonations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Lists donations within a customizable time window.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Days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2520999496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DeletePerson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Removes a person record and associated data.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 ID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3902715338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GetDonationSummary</a:t>
                      </a:r>
                      <a:endParaRPr lang="en-US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Shows donation counts grouped by blood type.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1323535285"/>
                  </a:ext>
                </a:extLst>
              </a:tr>
              <a:tr h="458608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GetBloodShortages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179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Identifies blood types below a specified threshold.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485" marR="17485" marT="17485" marB="17485"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threshold</a:t>
                      </a:r>
                    </a:p>
                  </a:txBody>
                  <a:tcPr marL="17485" marR="17485" marT="17485" marB="17485" anchor="ctr"/>
                </a:tc>
                <a:extLst>
                  <a:ext uri="{0D108BD9-81ED-4DB2-BD59-A6C34878D82A}">
                    <a16:rowId xmlns:a16="http://schemas.microsoft.com/office/drawing/2014/main" val="3193162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57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229" y="7661"/>
            <a:ext cx="6589199" cy="1280890"/>
          </a:xfrm>
        </p:spPr>
        <p:txBody>
          <a:bodyPr/>
          <a:lstStyle/>
          <a:p>
            <a:r>
              <a:rPr lang="en-US" dirty="0"/>
              <a:t>Triggers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96914D-00F6-2A71-385D-7B4CF822F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80442"/>
              </p:ext>
            </p:extLst>
          </p:nvPr>
        </p:nvGraphicFramePr>
        <p:xfrm>
          <a:off x="252608" y="828781"/>
          <a:ext cx="8747556" cy="574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889">
                  <a:extLst>
                    <a:ext uri="{9D8B030D-6E8A-4147-A177-3AD203B41FA5}">
                      <a16:colId xmlns:a16="http://schemas.microsoft.com/office/drawing/2014/main" val="36651796"/>
                    </a:ext>
                  </a:extLst>
                </a:gridCol>
                <a:gridCol w="2186889">
                  <a:extLst>
                    <a:ext uri="{9D8B030D-6E8A-4147-A177-3AD203B41FA5}">
                      <a16:colId xmlns:a16="http://schemas.microsoft.com/office/drawing/2014/main" val="2322474836"/>
                    </a:ext>
                  </a:extLst>
                </a:gridCol>
                <a:gridCol w="2186889">
                  <a:extLst>
                    <a:ext uri="{9D8B030D-6E8A-4147-A177-3AD203B41FA5}">
                      <a16:colId xmlns:a16="http://schemas.microsoft.com/office/drawing/2014/main" val="2127207546"/>
                    </a:ext>
                  </a:extLst>
                </a:gridCol>
                <a:gridCol w="2186889">
                  <a:extLst>
                    <a:ext uri="{9D8B030D-6E8A-4147-A177-3AD203B41FA5}">
                      <a16:colId xmlns:a16="http://schemas.microsoft.com/office/drawing/2014/main" val="3634454108"/>
                    </a:ext>
                  </a:extLst>
                </a:gridCol>
              </a:tblGrid>
              <a:tr h="65416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Trigger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Activated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290903430"/>
                  </a:ext>
                </a:extLst>
              </a:tr>
              <a:tr h="1995605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update_stock_after_donation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INSERT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Auto-increases stock when blood is donated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units of A+ → +2 to A+ inventory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983915723"/>
                  </a:ext>
                </a:extLst>
              </a:tr>
              <a:tr h="1548457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validate_donation_amount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BEFORE INSERT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Ensures donations are valid 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Blocks more units donation as unsafe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30916846"/>
                  </a:ext>
                </a:extLst>
              </a:tr>
              <a:tr h="1548457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update_last_donation_date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INSERT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Records most recent donation date per donor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captures the most recent date of donor.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3503764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172047"/>
            <a:ext cx="6589199" cy="1280890"/>
          </a:xfrm>
        </p:spPr>
        <p:txBody>
          <a:bodyPr/>
          <a:lstStyle/>
          <a:p>
            <a:r>
              <a:rPr lang="en-US" dirty="0"/>
              <a:t>Challenges Faced</a:t>
            </a:r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513F78-1D49-A535-DBBF-067ACA80AE05}"/>
              </a:ext>
            </a:extLst>
          </p:cNvPr>
          <p:cNvSpPr txBox="1">
            <a:spLocks/>
          </p:cNvSpPr>
          <p:nvPr/>
        </p:nvSpPr>
        <p:spPr>
          <a:xfrm>
            <a:off x="1945200" y="3426431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Solutions Implemented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05423-EECD-5D14-9BAA-8BD433B44389}"/>
              </a:ext>
            </a:extLst>
          </p:cNvPr>
          <p:cNvSpPr txBox="1"/>
          <p:nvPr/>
        </p:nvSpPr>
        <p:spPr>
          <a:xfrm>
            <a:off x="2111340" y="784304"/>
            <a:ext cx="6642241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Inconsistencies</a:t>
            </a:r>
          </a:p>
          <a:p>
            <a:pPr lvl="1">
              <a:lnSpc>
                <a:spcPts val="2143"/>
              </a:lnSpc>
              <a:spcBef>
                <a:spcPts val="30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validation on fields(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phone number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different 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 name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>
              <a:lnSpc>
                <a:spcPts val="2143"/>
              </a:lnSpc>
              <a:spcBef>
                <a:spcPts val="300"/>
              </a:spcBef>
            </a:pPr>
            <a:endParaRPr lang="en-US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 Time Tracking Gaps</a:t>
            </a:r>
          </a:p>
          <a:p>
            <a:pPr lvl="1">
              <a:lnSpc>
                <a:spcPts val="2143"/>
              </a:lnSpc>
              <a:spcBef>
                <a:spcPts val="30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Delayed/inaccurate inventory updates leading to  stockouts.</a:t>
            </a:r>
          </a:p>
          <a:p>
            <a:pPr lvl="1">
              <a:lnSpc>
                <a:spcPts val="2143"/>
              </a:lnSpc>
              <a:spcBef>
                <a:spcPts val="300"/>
              </a:spcBef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automated alerts for critical blood shortages.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78A606-109B-45D4-FF0F-16C506924284}"/>
              </a:ext>
            </a:extLst>
          </p:cNvPr>
          <p:cNvSpPr txBox="1"/>
          <p:nvPr/>
        </p:nvSpPr>
        <p:spPr>
          <a:xfrm>
            <a:off x="2327096" y="4066876"/>
            <a:ext cx="6426485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Validation Systems</a:t>
            </a:r>
            <a:b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Implemented simple validations such as 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 Name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can't be 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Phone Num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can't be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characters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Standardized Data Entry</a:t>
            </a:r>
            <a:b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Implemented ENUM types for blood groups (A+, B+, etc.)</a:t>
            </a:r>
          </a:p>
          <a:p>
            <a:pPr marL="285750" indent="-285750"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Alerts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warnings for critical blood levels (&lt;5 units)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850" y="1329991"/>
            <a:ext cx="6591985" cy="14851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Validations(one account per phone number)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Smartphone Application </a:t>
            </a:r>
            <a:endParaRPr lang="en-US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a Dashboard</a:t>
            </a:r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2B7DAE-1636-F80A-7968-10A2D7D99D5D}"/>
              </a:ext>
            </a:extLst>
          </p:cNvPr>
          <p:cNvSpPr txBox="1">
            <a:spLocks/>
          </p:cNvSpPr>
          <p:nvPr/>
        </p:nvSpPr>
        <p:spPr>
          <a:xfrm>
            <a:off x="1945201" y="2663508"/>
            <a:ext cx="6589199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6C444-605F-968A-0460-2174D604235E}"/>
              </a:ext>
            </a:extLst>
          </p:cNvPr>
          <p:cNvSpPr txBox="1"/>
          <p:nvPr/>
        </p:nvSpPr>
        <p:spPr>
          <a:xfrm>
            <a:off x="1945201" y="3489767"/>
            <a:ext cx="6767284" cy="254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43"/>
              </a:lnSpc>
              <a:spcBef>
                <a:spcPts val="1029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Improved Efficiency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processes reduced errors and manual work.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Better Inventory Control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tracking and alerts for blood stock levels.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Secure &amp; Scalable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Protected donor data with role-based access for future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8E22-A9CB-F5B2-AD3F-69F7E949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30CBC-0111-EE3F-1B18-63859762C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Silberschatz Korth and Sudharshan, Database System Concepts, 6th Edition, McGraw Hill, 2013.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Fundamentals of Database Systems, Ramez Elmasri and Shamkant B. Navathe, 7</a:t>
            </a:r>
            <a:r>
              <a:rPr lang="en-US" sz="1800" baseline="30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Edition, 2017, Pearson.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management systems, Ramakrishna, and Gehrke, 3rd Edition, 2014,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McGrawHill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2013.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https://www.w3schools.com</a:t>
            </a:r>
            <a:endParaRPr 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http://geeksforgeeks.org/</a:t>
            </a:r>
            <a:endParaRPr 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334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7312E-0D14-A51B-4D69-E4BD4F57B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2034" y="2874150"/>
            <a:ext cx="1619932" cy="128089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1125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8C6D-6DF0-D220-B6E7-8ADB368B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068" y="2915247"/>
            <a:ext cx="3633667" cy="1280890"/>
          </a:xfrm>
        </p:spPr>
        <p:txBody>
          <a:bodyPr/>
          <a:lstStyle/>
          <a:p>
            <a:r>
              <a:rPr lang="en-US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11238183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1563</TotalTime>
  <Words>938</Words>
  <Application>Microsoft Office PowerPoint</Application>
  <PresentationFormat>On-screen Show (4:3)</PresentationFormat>
  <Paragraphs>174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Century Gothic</vt:lpstr>
      <vt:lpstr>Symbol</vt:lpstr>
      <vt:lpstr>Times New Roman</vt:lpstr>
      <vt:lpstr>Wingdings</vt:lpstr>
      <vt:lpstr>Wingdings 3</vt:lpstr>
      <vt:lpstr>Wisp</vt:lpstr>
      <vt:lpstr>PowerPoint Presentation</vt:lpstr>
      <vt:lpstr>Introduction</vt:lpstr>
      <vt:lpstr> Technology Stack</vt:lpstr>
      <vt:lpstr>System Overview</vt:lpstr>
      <vt:lpstr>Database Design(DDL)</vt:lpstr>
      <vt:lpstr>Entity Relationship Diagram</vt:lpstr>
      <vt:lpstr>Views</vt:lpstr>
      <vt:lpstr>Stored Procedures</vt:lpstr>
      <vt:lpstr>Triggers</vt:lpstr>
      <vt:lpstr>Challenges Faced</vt:lpstr>
      <vt:lpstr>Future Enhancements</vt:lpstr>
      <vt:lpstr>References</vt:lpstr>
      <vt:lpstr>DEMO</vt:lpstr>
      <vt:lpstr>THANK YOU 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 Saurav Jha</cp:lastModifiedBy>
  <cp:revision>172</cp:revision>
  <dcterms:created xsi:type="dcterms:W3CDTF">2013-01-27T09:14:16Z</dcterms:created>
  <dcterms:modified xsi:type="dcterms:W3CDTF">2025-05-08T01:28:40Z</dcterms:modified>
  <cp:category/>
</cp:coreProperties>
</file>